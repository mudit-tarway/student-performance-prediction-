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A5A7C861-5DCF-4B6A-9BEB-117472F5D155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DA33480E-50E5-414D-A062-AEC76F191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9006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7C861-5DCF-4B6A-9BEB-117472F5D155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3480E-50E5-414D-A062-AEC76F191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661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7C861-5DCF-4B6A-9BEB-117472F5D155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3480E-50E5-414D-A062-AEC76F191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0986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7C861-5DCF-4B6A-9BEB-117472F5D155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3480E-50E5-414D-A062-AEC76F191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044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7C861-5DCF-4B6A-9BEB-117472F5D155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3480E-50E5-414D-A062-AEC76F191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6982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7C861-5DCF-4B6A-9BEB-117472F5D155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3480E-50E5-414D-A062-AEC76F191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8323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7C861-5DCF-4B6A-9BEB-117472F5D155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3480E-50E5-414D-A062-AEC76F191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074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7C861-5DCF-4B6A-9BEB-117472F5D155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3480E-50E5-414D-A062-AEC76F191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1110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7C861-5DCF-4B6A-9BEB-117472F5D155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3480E-50E5-414D-A062-AEC76F191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325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7C861-5DCF-4B6A-9BEB-117472F5D155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3480E-50E5-414D-A062-AEC76F191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571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7C861-5DCF-4B6A-9BEB-117472F5D155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3480E-50E5-414D-A062-AEC76F191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054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7C861-5DCF-4B6A-9BEB-117472F5D155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3480E-50E5-414D-A062-AEC76F191405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063936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7C861-5DCF-4B6A-9BEB-117472F5D155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3480E-50E5-414D-A062-AEC76F191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2971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7C861-5DCF-4B6A-9BEB-117472F5D155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3480E-50E5-414D-A062-AEC76F191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5619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7C861-5DCF-4B6A-9BEB-117472F5D155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3480E-50E5-414D-A062-AEC76F191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1169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7C861-5DCF-4B6A-9BEB-117472F5D155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3480E-50E5-414D-A062-AEC76F191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72378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7C861-5DCF-4B6A-9BEB-117472F5D155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3480E-50E5-414D-A062-AEC76F191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654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A7C861-5DCF-4B6A-9BEB-117472F5D155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33480E-50E5-414D-A062-AEC76F191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923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6334711-6994-8F98-81DE-681E11C609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2116" y="176981"/>
            <a:ext cx="11208773" cy="5978013"/>
          </a:xfrm>
        </p:spPr>
        <p:txBody>
          <a:bodyPr>
            <a:normAutofit/>
          </a:bodyPr>
          <a:lstStyle/>
          <a:p>
            <a:pPr algn="ctr"/>
            <a:endParaRPr lang="en-IN" sz="2800" b="1" dirty="0">
              <a:solidFill>
                <a:srgbClr val="002060"/>
              </a:solidFill>
            </a:endParaRPr>
          </a:p>
          <a:p>
            <a:pPr algn="ctr"/>
            <a:endParaRPr lang="en-IN" sz="2800" b="1" dirty="0">
              <a:solidFill>
                <a:srgbClr val="002060"/>
              </a:solidFill>
            </a:endParaRPr>
          </a:p>
          <a:p>
            <a:pPr algn="ctr"/>
            <a:r>
              <a:rPr lang="en-IN" sz="2800" b="1" dirty="0">
                <a:solidFill>
                  <a:schemeClr val="bg1"/>
                </a:solidFill>
              </a:rPr>
              <a:t>Presenter : MUDIT  TARWAY</a:t>
            </a:r>
          </a:p>
          <a:p>
            <a:pPr algn="ctr"/>
            <a:r>
              <a:rPr lang="en-IN" sz="2800" b="1" dirty="0">
                <a:solidFill>
                  <a:schemeClr val="bg1"/>
                </a:solidFill>
              </a:rPr>
              <a:t>Project : </a:t>
            </a:r>
            <a:r>
              <a:rPr lang="en-IN" sz="2800" b="1" u="sng" dirty="0">
                <a:solidFill>
                  <a:schemeClr val="bg1"/>
                </a:solidFill>
              </a:rPr>
              <a:t>Student Performance Prediction</a:t>
            </a:r>
            <a:endParaRPr lang="en-IN" sz="2800" b="1" dirty="0">
              <a:solidFill>
                <a:schemeClr val="bg1"/>
              </a:solidFill>
            </a:endParaRPr>
          </a:p>
          <a:p>
            <a:pPr algn="ctr"/>
            <a:endParaRPr lang="en-IN" sz="2800" b="1" dirty="0">
              <a:solidFill>
                <a:schemeClr val="bg1"/>
              </a:solidFill>
            </a:endParaRPr>
          </a:p>
          <a:p>
            <a:pPr algn="ctr"/>
            <a:r>
              <a:rPr lang="en-IN" sz="2800" b="1" dirty="0">
                <a:solidFill>
                  <a:schemeClr val="bg1"/>
                </a:solidFill>
              </a:rPr>
              <a:t>Mentor : Mr. Himanshu Souda</a:t>
            </a:r>
          </a:p>
          <a:p>
            <a:pPr algn="ctr"/>
            <a:r>
              <a:rPr lang="en-IN" sz="2800" b="1" dirty="0">
                <a:solidFill>
                  <a:schemeClr val="bg1"/>
                </a:solidFill>
              </a:rPr>
              <a:t>College : Techno India University, West Bengal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2227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52AC5-6842-DAC7-FC6F-D9C7389141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796412"/>
          </a:xfrm>
        </p:spPr>
        <p:txBody>
          <a:bodyPr/>
          <a:lstStyle/>
          <a:p>
            <a:pPr algn="ctr"/>
            <a:r>
              <a:rPr lang="en-IN" u="sng" dirty="0">
                <a:solidFill>
                  <a:schemeClr val="bg1"/>
                </a:solidFill>
                <a:latin typeface="Algerian" panose="04020705040A02060702" pitchFamily="82" charset="0"/>
              </a:rPr>
              <a:t>Problem Motivation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4D9B1C-14D3-8780-381B-CA2115F57C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7794" y="1789471"/>
            <a:ext cx="10304206" cy="454250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 tracking of student performance is difficult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Early identification of potentially underperforming students lacks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Teachers struggle to analyze extensive academic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Decisions still rely on observation over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predictive systems improve data-driven academic decisions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Machine learning identifies patterns enabling early intervention</a:t>
            </a:r>
          </a:p>
        </p:txBody>
      </p:sp>
    </p:spTree>
    <p:extLst>
      <p:ext uri="{BB962C8B-B14F-4D97-AF65-F5344CB8AC3E}">
        <p14:creationId xmlns:p14="http://schemas.microsoft.com/office/powerpoint/2010/main" val="2923732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E1F7D-D222-C6C5-9BB9-68D2D60057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914400"/>
          </a:xfrm>
        </p:spPr>
        <p:txBody>
          <a:bodyPr/>
          <a:lstStyle/>
          <a:p>
            <a:pPr algn="ctr"/>
            <a:r>
              <a:rPr lang="en-IN" u="sng" dirty="0">
                <a:solidFill>
                  <a:schemeClr val="bg1"/>
                </a:solidFill>
                <a:latin typeface="Algerian" panose="04020705040A02060702" pitchFamily="82" charset="0"/>
              </a:rPr>
              <a:t>Dataset Description &amp; Technologies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BAF21F2-36C4-0228-DA08-9B0F2836306E}"/>
              </a:ext>
            </a:extLst>
          </p:cNvPr>
          <p:cNvSpPr/>
          <p:nvPr/>
        </p:nvSpPr>
        <p:spPr>
          <a:xfrm>
            <a:off x="3792793" y="2795473"/>
            <a:ext cx="2731729" cy="2315007"/>
          </a:xfrm>
          <a:prstGeom prst="roundRect">
            <a:avLst>
              <a:gd name="adj" fmla="val 28517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u="sng" dirty="0"/>
              <a:t>Mapping to the Grade:</a:t>
            </a:r>
          </a:p>
          <a:p>
            <a:pPr algn="ctr"/>
            <a:endParaRPr lang="en-IN" b="1" u="sng" dirty="0"/>
          </a:p>
          <a:p>
            <a:pPr algn="ctr"/>
            <a:r>
              <a:rPr lang="en-IN" b="1" dirty="0"/>
              <a:t>A </a:t>
            </a:r>
            <a:r>
              <a:rPr lang="en-IN" b="1" dirty="0">
                <a:sym typeface="Wingdings" panose="05000000000000000000" pitchFamily="2" charset="2"/>
              </a:rPr>
              <a:t> 0</a:t>
            </a:r>
          </a:p>
          <a:p>
            <a:pPr algn="ctr"/>
            <a:r>
              <a:rPr lang="en-IN" b="1" dirty="0">
                <a:sym typeface="Wingdings" panose="05000000000000000000" pitchFamily="2" charset="2"/>
              </a:rPr>
              <a:t>B  1</a:t>
            </a:r>
          </a:p>
          <a:p>
            <a:pPr algn="ctr"/>
            <a:r>
              <a:rPr lang="en-IN" b="1" dirty="0">
                <a:sym typeface="Wingdings" panose="05000000000000000000" pitchFamily="2" charset="2"/>
              </a:rPr>
              <a:t>C  2</a:t>
            </a:r>
          </a:p>
          <a:p>
            <a:pPr algn="ctr"/>
            <a:r>
              <a:rPr lang="en-IN" b="1" dirty="0">
                <a:sym typeface="Wingdings" panose="05000000000000000000" pitchFamily="2" charset="2"/>
              </a:rPr>
              <a:t>D  3</a:t>
            </a:r>
          </a:p>
          <a:p>
            <a:pPr algn="ctr"/>
            <a:r>
              <a:rPr lang="en-IN" b="1" dirty="0">
                <a:sym typeface="Wingdings" panose="05000000000000000000" pitchFamily="2" charset="2"/>
              </a:rPr>
              <a:t>E  4</a:t>
            </a:r>
            <a:endParaRPr lang="en-IN" b="1" dirty="0"/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55874038-2F30-7883-DF2F-0BB72991F4CD}"/>
              </a:ext>
            </a:extLst>
          </p:cNvPr>
          <p:cNvSpPr/>
          <p:nvPr/>
        </p:nvSpPr>
        <p:spPr>
          <a:xfrm>
            <a:off x="127818" y="914401"/>
            <a:ext cx="3460955" cy="5201262"/>
          </a:xfrm>
          <a:prstGeom prst="flowChartAlternate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u="sng" dirty="0"/>
              <a:t>Features involved in the Dataset:</a:t>
            </a:r>
          </a:p>
          <a:p>
            <a:pPr algn="ctr"/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Attendance(%)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Midterm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Final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Assignment Average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Quizzes Average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Participation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Projects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Total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Study per Night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Study per Week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Extra Curricular Activities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Internet Access at Home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Parent Education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Stress Level</a:t>
            </a:r>
          </a:p>
          <a:p>
            <a:pPr algn="ctr"/>
            <a:endParaRPr lang="en-IN" dirty="0"/>
          </a:p>
        </p:txBody>
      </p:sp>
      <p:sp>
        <p:nvSpPr>
          <p:cNvPr id="13" name="Flowchart: Alternate Process 12">
            <a:extLst>
              <a:ext uri="{FF2B5EF4-FFF2-40B4-BE49-F238E27FC236}">
                <a16:creationId xmlns:a16="http://schemas.microsoft.com/office/drawing/2014/main" id="{9EF1EC2B-D0F2-A2A0-8BF3-0ADB37DF76B3}"/>
              </a:ext>
            </a:extLst>
          </p:cNvPr>
          <p:cNvSpPr/>
          <p:nvPr/>
        </p:nvSpPr>
        <p:spPr>
          <a:xfrm>
            <a:off x="9810298" y="988801"/>
            <a:ext cx="2336476" cy="1512367"/>
          </a:xfrm>
          <a:prstGeom prst="flowChartAlternate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u="sng" dirty="0">
                <a:solidFill>
                  <a:schemeClr val="bg1"/>
                </a:solidFill>
              </a:rPr>
              <a:t>Target Variable:</a:t>
            </a:r>
          </a:p>
          <a:p>
            <a:pPr algn="ctr"/>
            <a:endParaRPr lang="en-IN" dirty="0">
              <a:solidFill>
                <a:schemeClr val="bg1"/>
              </a:solidFill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Grade</a:t>
            </a:r>
          </a:p>
        </p:txBody>
      </p:sp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EE491180-626B-C79A-35E0-AADC8BE2EB74}"/>
              </a:ext>
            </a:extLst>
          </p:cNvPr>
          <p:cNvSpPr/>
          <p:nvPr/>
        </p:nvSpPr>
        <p:spPr>
          <a:xfrm>
            <a:off x="3716591" y="988801"/>
            <a:ext cx="5965889" cy="1597740"/>
          </a:xfrm>
          <a:prstGeom prst="flowChartAlternate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u="sng" dirty="0"/>
              <a:t>Dataset Purpose:</a:t>
            </a:r>
          </a:p>
          <a:p>
            <a:pPr algn="ctr"/>
            <a:endParaRPr lang="en-IN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Capture academic performance and engagement factors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Provide meaningful inputs for accurate grade prediction</a:t>
            </a:r>
            <a:endParaRPr lang="en-IN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A06B4A7-01F6-C6B0-8C40-B8127FC50618}"/>
              </a:ext>
            </a:extLst>
          </p:cNvPr>
          <p:cNvSpPr/>
          <p:nvPr/>
        </p:nvSpPr>
        <p:spPr>
          <a:xfrm>
            <a:off x="6990080" y="2660941"/>
            <a:ext cx="2225040" cy="3320190"/>
          </a:xfrm>
          <a:prstGeom prst="roundRect">
            <a:avLst>
              <a:gd name="adj" fmla="val 32192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u="sng" dirty="0"/>
              <a:t>Technologies Used: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Scikit Learn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Pandas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err="1"/>
              <a:t>Numpy</a:t>
            </a: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Matplotlib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Seaborn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586094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4F616-18C1-FA47-5AAA-7B593E8958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4458" y="-31691"/>
            <a:ext cx="10115840" cy="779071"/>
          </a:xfrm>
        </p:spPr>
        <p:txBody>
          <a:bodyPr>
            <a:normAutofit/>
          </a:bodyPr>
          <a:lstStyle/>
          <a:p>
            <a:r>
              <a:rPr lang="en-IN" u="sng" dirty="0">
                <a:solidFill>
                  <a:schemeClr val="bg1"/>
                </a:solidFill>
                <a:latin typeface="Algerian" panose="04020705040A02060702" pitchFamily="82" charset="0"/>
              </a:rPr>
              <a:t>Model Flow  &amp; Implementation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4731F-56A9-5914-B2B3-C11F440C1D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858254"/>
            <a:ext cx="12113342" cy="310414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highlight>
                  <a:srgbClr val="C0C0C0"/>
                </a:highlight>
                <a:latin typeface="Aptos" panose="020B0004020202020204" pitchFamily="34" charset="0"/>
              </a:rPr>
              <a:t>Performed </a:t>
            </a:r>
            <a:r>
              <a:rPr lang="en-US" b="1" dirty="0">
                <a:solidFill>
                  <a:srgbClr val="FF0000"/>
                </a:solidFill>
                <a:highlight>
                  <a:srgbClr val="C0C0C0"/>
                </a:highlight>
                <a:latin typeface="Aptos" panose="020B0004020202020204" pitchFamily="34" charset="0"/>
              </a:rPr>
              <a:t>data preprocessing</a:t>
            </a:r>
            <a:r>
              <a:rPr lang="en-US" dirty="0">
                <a:solidFill>
                  <a:srgbClr val="FF0000"/>
                </a:solidFill>
                <a:highlight>
                  <a:srgbClr val="C0C0C0"/>
                </a:highlight>
                <a:latin typeface="Aptos" panose="020B0004020202020204" pitchFamily="34" charset="0"/>
              </a:rPr>
              <a:t> to clean and format inputs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highlight>
                  <a:srgbClr val="C0C0C0"/>
                </a:highlight>
                <a:latin typeface="Aptos" panose="020B0004020202020204" pitchFamily="34" charset="0"/>
              </a:rPr>
              <a:t>Applied </a:t>
            </a:r>
            <a:r>
              <a:rPr lang="en-US" b="1" dirty="0">
                <a:solidFill>
                  <a:srgbClr val="FF0000"/>
                </a:solidFill>
                <a:highlight>
                  <a:srgbClr val="C0C0C0"/>
                </a:highlight>
                <a:latin typeface="Aptos" panose="020B0004020202020204" pitchFamily="34" charset="0"/>
              </a:rPr>
              <a:t>Label Encoding</a:t>
            </a:r>
            <a:r>
              <a:rPr lang="en-US" dirty="0">
                <a:solidFill>
                  <a:srgbClr val="FF0000"/>
                </a:solidFill>
                <a:highlight>
                  <a:srgbClr val="C0C0C0"/>
                </a:highlight>
                <a:latin typeface="Aptos" panose="020B0004020202020204" pitchFamily="34" charset="0"/>
              </a:rPr>
              <a:t> to convert grade categories (A–E) into numeric values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highlight>
                  <a:srgbClr val="C0C0C0"/>
                </a:highlight>
                <a:latin typeface="Aptos" panose="020B0004020202020204" pitchFamily="34" charset="0"/>
              </a:rPr>
              <a:t>Split the dataset using an </a:t>
            </a:r>
            <a:r>
              <a:rPr lang="en-US" b="1" dirty="0">
                <a:solidFill>
                  <a:srgbClr val="FF0000"/>
                </a:solidFill>
                <a:highlight>
                  <a:srgbClr val="C0C0C0"/>
                </a:highlight>
                <a:latin typeface="Aptos" panose="020B0004020202020204" pitchFamily="34" charset="0"/>
              </a:rPr>
              <a:t>80–20 train–test ratio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highlight>
                  <a:srgbClr val="C0C0C0"/>
                </a:highlight>
                <a:latin typeface="Aptos" panose="020B0004020202020204" pitchFamily="34" charset="0"/>
              </a:rPr>
              <a:t>Trained the model using </a:t>
            </a:r>
            <a:r>
              <a:rPr lang="en-US" b="1" dirty="0">
                <a:solidFill>
                  <a:srgbClr val="FF0000"/>
                </a:solidFill>
                <a:highlight>
                  <a:srgbClr val="C0C0C0"/>
                </a:highlight>
                <a:latin typeface="Aptos" panose="020B0004020202020204" pitchFamily="34" charset="0"/>
              </a:rPr>
              <a:t>Random Forest</a:t>
            </a:r>
            <a:r>
              <a:rPr lang="en-US" dirty="0">
                <a:solidFill>
                  <a:srgbClr val="FF0000"/>
                </a:solidFill>
                <a:highlight>
                  <a:srgbClr val="C0C0C0"/>
                </a:highlight>
                <a:latin typeface="Aptos" panose="020B0004020202020204" pitchFamily="34" charset="0"/>
              </a:rPr>
              <a:t> (robust and high-accuracy algorithm)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highlight>
                  <a:srgbClr val="C0C0C0"/>
                </a:highlight>
                <a:latin typeface="Aptos" panose="020B0004020202020204" pitchFamily="34" charset="0"/>
              </a:rPr>
              <a:t>Evaluated performance using </a:t>
            </a:r>
            <a:r>
              <a:rPr lang="en-US" b="1" dirty="0">
                <a:solidFill>
                  <a:srgbClr val="FF0000"/>
                </a:solidFill>
                <a:highlight>
                  <a:srgbClr val="C0C0C0"/>
                </a:highlight>
                <a:latin typeface="Aptos" panose="020B0004020202020204" pitchFamily="34" charset="0"/>
              </a:rPr>
              <a:t>Accuracy</a:t>
            </a:r>
            <a:r>
              <a:rPr lang="en-US" dirty="0">
                <a:solidFill>
                  <a:srgbClr val="FF0000"/>
                </a:solidFill>
                <a:highlight>
                  <a:srgbClr val="C0C0C0"/>
                </a:highlight>
                <a:latin typeface="Aptos" panose="020B0004020202020204" pitchFamily="34" charset="0"/>
              </a:rPr>
              <a:t> (and Precision/Recall for deeper analysis)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highlight>
                  <a:srgbClr val="C0C0C0"/>
                </a:highlight>
                <a:latin typeface="Aptos" panose="020B0004020202020204" pitchFamily="34" charset="0"/>
              </a:rPr>
              <a:t>Generated predictions based on new student data</a:t>
            </a:r>
          </a:p>
          <a:p>
            <a:endParaRPr lang="en-IN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39B861D3-91F5-4FA8-E50D-9B74A65949B3}"/>
              </a:ext>
            </a:extLst>
          </p:cNvPr>
          <p:cNvSpPr/>
          <p:nvPr/>
        </p:nvSpPr>
        <p:spPr>
          <a:xfrm>
            <a:off x="90949" y="4326710"/>
            <a:ext cx="1347019" cy="904567"/>
          </a:xfrm>
          <a:prstGeom prst="flowChartAlternateProcess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Input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6073B245-868C-85CD-9AB7-FC2A812A836E}"/>
              </a:ext>
            </a:extLst>
          </p:cNvPr>
          <p:cNvSpPr/>
          <p:nvPr/>
        </p:nvSpPr>
        <p:spPr>
          <a:xfrm>
            <a:off x="2541641" y="4338743"/>
            <a:ext cx="1671483" cy="904567"/>
          </a:xfrm>
          <a:prstGeom prst="flowChartAlternateProcess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Preprocessing</a:t>
            </a:r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10FE43BB-6313-C319-C2E6-796E53BEBD95}"/>
              </a:ext>
            </a:extLst>
          </p:cNvPr>
          <p:cNvSpPr/>
          <p:nvPr/>
        </p:nvSpPr>
        <p:spPr>
          <a:xfrm>
            <a:off x="5316797" y="4338742"/>
            <a:ext cx="1425677" cy="904567"/>
          </a:xfrm>
          <a:prstGeom prst="flowChartAlternateProcess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Training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E731103C-AEC4-57F1-79E4-E2F666065638}"/>
              </a:ext>
            </a:extLst>
          </p:cNvPr>
          <p:cNvSpPr/>
          <p:nvPr/>
        </p:nvSpPr>
        <p:spPr>
          <a:xfrm>
            <a:off x="7846146" y="4404718"/>
            <a:ext cx="1425678" cy="904567"/>
          </a:xfrm>
          <a:prstGeom prst="flowChartAlternateProcess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Prediction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7D6E6C91-853E-1A15-2B62-51190E134EB9}"/>
              </a:ext>
            </a:extLst>
          </p:cNvPr>
          <p:cNvSpPr/>
          <p:nvPr/>
        </p:nvSpPr>
        <p:spPr>
          <a:xfrm>
            <a:off x="10374434" y="4361245"/>
            <a:ext cx="1671483" cy="904567"/>
          </a:xfrm>
          <a:prstGeom prst="flowChartAlternateProcess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Output Display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8283A077-14D1-E64B-352D-C6CD9D5D71EF}"/>
              </a:ext>
            </a:extLst>
          </p:cNvPr>
          <p:cNvSpPr/>
          <p:nvPr/>
        </p:nvSpPr>
        <p:spPr>
          <a:xfrm>
            <a:off x="1437968" y="4647549"/>
            <a:ext cx="1103673" cy="26288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9B4534E4-5BBA-7B2E-5D8E-206C45F8C11D}"/>
              </a:ext>
            </a:extLst>
          </p:cNvPr>
          <p:cNvSpPr/>
          <p:nvPr/>
        </p:nvSpPr>
        <p:spPr>
          <a:xfrm>
            <a:off x="4213124" y="4647548"/>
            <a:ext cx="1103673" cy="26288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48CF0B46-8161-87F5-F616-BECF501E5D9F}"/>
              </a:ext>
            </a:extLst>
          </p:cNvPr>
          <p:cNvSpPr/>
          <p:nvPr/>
        </p:nvSpPr>
        <p:spPr>
          <a:xfrm>
            <a:off x="6742473" y="4682085"/>
            <a:ext cx="1103673" cy="26288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1F75BACA-542C-FEDD-BBF8-570E993F8864}"/>
              </a:ext>
            </a:extLst>
          </p:cNvPr>
          <p:cNvSpPr/>
          <p:nvPr/>
        </p:nvSpPr>
        <p:spPr>
          <a:xfrm>
            <a:off x="9271824" y="4725556"/>
            <a:ext cx="1103673" cy="26288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759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22B79-350B-EDE2-AB3A-6656A2F96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863600"/>
          </a:xfrm>
        </p:spPr>
        <p:txBody>
          <a:bodyPr/>
          <a:lstStyle/>
          <a:p>
            <a:pPr algn="ctr"/>
            <a:r>
              <a:rPr lang="en-IN" u="sng" dirty="0">
                <a:solidFill>
                  <a:schemeClr val="bg1"/>
                </a:solidFill>
                <a:latin typeface="Algerian" panose="04020705040A02060702" pitchFamily="82" charset="0"/>
              </a:rPr>
              <a:t>Result and prediction Demo: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93E5B0-4C52-0726-B7FE-1897165800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87220"/>
            <a:ext cx="6498378" cy="4567100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D4E8823-1708-7240-8622-7599A86B43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0270" y="787220"/>
            <a:ext cx="4487157" cy="280447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BF084A5-E90D-8F68-197B-E273982321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0270" y="3586025"/>
            <a:ext cx="5421729" cy="3246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882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62C6D-291C-5DD3-4D8A-B31A887B1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43280"/>
          </a:xfrm>
        </p:spPr>
        <p:txBody>
          <a:bodyPr/>
          <a:lstStyle/>
          <a:p>
            <a:pPr algn="ctr"/>
            <a:r>
              <a:rPr lang="en-IN" u="sng" dirty="0">
                <a:solidFill>
                  <a:schemeClr val="bg1"/>
                </a:solidFill>
                <a:latin typeface="Algerian" panose="04020705040A02060702" pitchFamily="82" charset="0"/>
              </a:rPr>
              <a:t>Result and prediction Demo: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05F86A-9324-1059-F618-E597FA65F0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6880" y="721384"/>
            <a:ext cx="5325218" cy="290553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7EA2F0-F2E7-E477-2829-435B22CB49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847" y="721384"/>
            <a:ext cx="5209593" cy="27836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2BA46E-59D9-1251-F8A1-3C0BCDC325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6"/>
          <a:stretch>
            <a:fillRect/>
          </a:stretch>
        </p:blipFill>
        <p:spPr>
          <a:xfrm>
            <a:off x="215847" y="3626914"/>
            <a:ext cx="4196228" cy="31998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75F634-C57D-6E7E-0051-9B7D7DD239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4978" y="3696727"/>
            <a:ext cx="4897120" cy="3130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161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B096A-7840-A021-54F7-314DE44125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35317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143C96"/>
                </a:solidFill>
              </a:rPr>
              <a:t>Conclusion &amp; Future Scope</a:t>
            </a:r>
            <a:endParaRPr lang="en-IN" u="sng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FA7F53-83E1-E7A8-DD27-2CAF670A37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720" y="518160"/>
            <a:ext cx="11826240" cy="6339840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2800" b="1" u="sng" dirty="0">
                <a:solidFill>
                  <a:schemeClr val="tx1"/>
                </a:solidFill>
              </a:rPr>
              <a:t>Conclusion:</a:t>
            </a:r>
          </a:p>
          <a:p>
            <a:pPr algn="ctr"/>
            <a:endParaRPr lang="en-US" sz="2800" b="1" u="sng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rgbClr val="2828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Efficient prediction of student performance</a:t>
            </a:r>
          </a:p>
          <a:p>
            <a:r>
              <a:rPr lang="en-US" sz="2400" dirty="0">
                <a:solidFill>
                  <a:srgbClr val="2828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Supports data-driven academic insights</a:t>
            </a:r>
          </a:p>
          <a:p>
            <a:r>
              <a:rPr lang="en-US" sz="2400" dirty="0">
                <a:solidFill>
                  <a:srgbClr val="2828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Helps identify at-risk students early</a:t>
            </a:r>
          </a:p>
          <a:p>
            <a:endParaRPr lang="en-US" dirty="0">
              <a:solidFill>
                <a:srgbClr val="282828"/>
              </a:solidFill>
            </a:endParaRPr>
          </a:p>
          <a:p>
            <a:pPr algn="ctr"/>
            <a:r>
              <a:rPr lang="en-US" sz="2800" b="1" u="sng" dirty="0">
                <a:solidFill>
                  <a:schemeClr val="tx1"/>
                </a:solidFill>
              </a:rPr>
              <a:t>Future Scope:</a:t>
            </a:r>
          </a:p>
          <a:p>
            <a:pPr algn="ctr"/>
            <a:endParaRPr lang="en-US" sz="2800" b="1" u="sng" dirty="0">
              <a:solidFill>
                <a:schemeClr val="tx1"/>
              </a:solidFill>
            </a:endParaRPr>
          </a:p>
          <a:p>
            <a:r>
              <a:rPr lang="en-US" sz="2600" dirty="0">
                <a:solidFill>
                  <a:srgbClr val="282828"/>
                </a:solidFill>
              </a:rPr>
              <a:t>• Deploy as a full web/mobile application</a:t>
            </a:r>
          </a:p>
          <a:p>
            <a:r>
              <a:rPr lang="en-US" sz="2600" dirty="0">
                <a:solidFill>
                  <a:srgbClr val="282828"/>
                </a:solidFill>
              </a:rPr>
              <a:t>• Add personalized study recommendations</a:t>
            </a:r>
          </a:p>
          <a:p>
            <a:r>
              <a:rPr lang="en-US" sz="2600" dirty="0">
                <a:solidFill>
                  <a:srgbClr val="282828"/>
                </a:solidFill>
              </a:rPr>
              <a:t>• Integrate advanced deep learning models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45680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245</TotalTime>
  <Words>290</Words>
  <Application>Microsoft Office PowerPoint</Application>
  <PresentationFormat>Widescreen</PresentationFormat>
  <Paragraphs>80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Algerian</vt:lpstr>
      <vt:lpstr>Aptos</vt:lpstr>
      <vt:lpstr>Arial</vt:lpstr>
      <vt:lpstr>Calibri</vt:lpstr>
      <vt:lpstr>Tw Cen MT</vt:lpstr>
      <vt:lpstr>Wingdings</vt:lpstr>
      <vt:lpstr>Circuit</vt:lpstr>
      <vt:lpstr>PowerPoint Presentation</vt:lpstr>
      <vt:lpstr>Problem Motivation</vt:lpstr>
      <vt:lpstr>Dataset Description &amp; Technologies</vt:lpstr>
      <vt:lpstr>Model Flow  &amp; Implementation</vt:lpstr>
      <vt:lpstr>Result and prediction Demo:</vt:lpstr>
      <vt:lpstr>Result and prediction Demo:</vt:lpstr>
      <vt:lpstr>Conclusion &amp;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Mudit Tarway</dc:creator>
  <cp:lastModifiedBy>Mudit Tarway</cp:lastModifiedBy>
  <cp:revision>1</cp:revision>
  <dcterms:created xsi:type="dcterms:W3CDTF">2025-11-14T11:56:16Z</dcterms:created>
  <dcterms:modified xsi:type="dcterms:W3CDTF">2025-11-14T16:02:02Z</dcterms:modified>
</cp:coreProperties>
</file>